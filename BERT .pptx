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PT Sans Narrow"/>
      <p:regular r:id="rId35"/>
      <p:bold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TSansNarrow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PTSansNarrow-bold.fntdata"/><Relationship Id="rId17" Type="http://schemas.openxmlformats.org/officeDocument/2006/relationships/slide" Target="slides/slide12.xml"/><Relationship Id="rId39" Type="http://schemas.openxmlformats.org/officeDocument/2006/relationships/font" Target="fonts/OpenSans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30ff405e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30ff405e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30ff405e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30ff405e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30ff405e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730ff405e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730ff405e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730ff405e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30ff405e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730ff405e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30ff405e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30ff405e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30ff405e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730ff405e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30ff405e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730ff405e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730ff405e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730ff405e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730ff405e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730ff405e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30ff405e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30ff405e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30ff405e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730ff405e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30ff405e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30ff405e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730ff405e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730ff405e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30ff405e0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30ff405e0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30ff405e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730ff405e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730ff405e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730ff405e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30ff405e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30ff405e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30ff405e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730ff405e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30ff405e0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30ff405e0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30ff405e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30ff405e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30ff405e0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30ff405e0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30ff405e0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30ff405e0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30ff405e0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30ff405e0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30ff405e0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30ff405e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336fb2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e336fb2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30ff405e0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730ff405e0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336fb21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e336fb21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abs/1810.04805" TargetMode="External"/><Relationship Id="rId4" Type="http://schemas.openxmlformats.org/officeDocument/2006/relationships/hyperlink" Target="https://github.com/google-research/bert" TargetMode="External"/><Relationship Id="rId9" Type="http://schemas.openxmlformats.org/officeDocument/2006/relationships/hyperlink" Target="https://github.com/google-research/electra" TargetMode="External"/><Relationship Id="rId5" Type="http://schemas.openxmlformats.org/officeDocument/2006/relationships/hyperlink" Target="https://github.com/huggingface/transformers?tab=readme-ov-file" TargetMode="External"/><Relationship Id="rId6" Type="http://schemas.openxmlformats.org/officeDocument/2006/relationships/hyperlink" Target="https://colab.research.google.com/github/tensorflow/tpu/blob/master/tools/colab/bert_finetuning_with_cloud_tpus.ipynb" TargetMode="External"/><Relationship Id="rId7" Type="http://schemas.openxmlformats.org/officeDocument/2006/relationships/hyperlink" Target="https://blog.google/products/search/search-language-understanding-bert/" TargetMode="External"/><Relationship Id="rId8" Type="http://schemas.openxmlformats.org/officeDocument/2006/relationships/hyperlink" Target="https://arxiv.org/abs/2003.10555v1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IAC Deep Learning Course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Source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PyTorch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BERT Fine Tuning for Cloud TPU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BERT’s Impact on Google Search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8"/>
              </a:rPr>
              <a:t>ELECTRA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9"/>
              </a:rPr>
              <a:t>ELECTRA Repo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BERT: Another Revolution in NLP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625" y="1152425"/>
            <a:ext cx="6692151" cy="368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Simplest use of BERT is Classification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00" y="1341663"/>
            <a:ext cx="9144000" cy="33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 on Transformers (Encoders)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8766368" cy="368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165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Both BERT model sizes have a large number of encoder layers (which the paper calls Transformer Blocks) – twelve for the Base version, and twenty four for the Large version. </a:t>
            </a:r>
            <a:endParaRPr sz="165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165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These also have larger feedforward-networks (768 and 1024 hidden units respectively), </a:t>
            </a:r>
            <a:endParaRPr sz="165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165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And more attention heads (12 and 16 respectively) than the default configuration in the reference implementation of the Transformer in the initial paper (6 encoder layers, 512 hidden units, and 8 attention heads).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8839202" cy="3381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8839200" cy="335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(Output size is different than Transformer)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8812596" cy="368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425" y="1152425"/>
            <a:ext cx="6691291" cy="368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Comparable</a:t>
            </a:r>
            <a:r>
              <a:rPr lang="en"/>
              <a:t> with Vision Model VGGNet</a:t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8839200" cy="3514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What’s the major change?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more Word2Vec and Glove embedding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embeddings are not contextualized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ElMo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238" y="1152425"/>
            <a:ext cx="6259518" cy="368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ElMo (Bi-LSTM)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300" y="1240250"/>
            <a:ext cx="6485446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ELMo</a:t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875" y="570875"/>
            <a:ext cx="4104249" cy="420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ELMo</a:t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800" y="1152425"/>
            <a:ext cx="8088505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ELMo</a:t>
            </a:r>
            <a:endParaRPr/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088" y="1152425"/>
            <a:ext cx="7107817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Open AI Transformer</a:t>
            </a:r>
            <a:endParaRPr/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575" y="1208000"/>
            <a:ext cx="5238879" cy="368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Open AI Transformer</a:t>
            </a:r>
            <a:endParaRPr/>
          </a:p>
        </p:txBody>
      </p:sp>
      <p:pic>
        <p:nvPicPr>
          <p:cNvPr id="175" name="Google Shape;1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100" y="1152425"/>
            <a:ext cx="5753794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Open AI Transformer (Finetuning)</a:t>
            </a:r>
            <a:endParaRPr/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600" y="1272525"/>
            <a:ext cx="7119033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Something’s not there?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ELMo’s bidirectional approach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(Architecture)</a:t>
            </a:r>
            <a:endParaRPr/>
          </a:p>
        </p:txBody>
      </p:sp>
      <p:pic>
        <p:nvPicPr>
          <p:cNvPr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725" y="1197225"/>
            <a:ext cx="5610558" cy="368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(Architecture) [Two Tasks]</a:t>
            </a:r>
            <a:endParaRPr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1800" y="1152425"/>
            <a:ext cx="5361435" cy="368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(Architecture) [Use Case]</a:t>
            </a:r>
            <a:endParaRPr/>
          </a:p>
        </p:txBody>
      </p:sp>
      <p:pic>
        <p:nvPicPr>
          <p:cNvPr id="205" name="Google Shape;205;p36"/>
          <p:cNvPicPr preferRelativeResize="0"/>
          <p:nvPr/>
        </p:nvPicPr>
        <p:blipFill rotWithShape="1">
          <a:blip r:embed="rId3">
            <a:alphaModFix/>
          </a:blip>
          <a:srcRect b="46621" l="17853" r="52145" t="0"/>
          <a:stretch/>
        </p:blipFill>
        <p:spPr>
          <a:xfrm>
            <a:off x="86550" y="1211063"/>
            <a:ext cx="2266407" cy="272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6"/>
          <p:cNvPicPr preferRelativeResize="0"/>
          <p:nvPr/>
        </p:nvPicPr>
        <p:blipFill rotWithShape="1">
          <a:blip r:embed="rId3">
            <a:alphaModFix/>
          </a:blip>
          <a:srcRect b="0" l="52544" r="17882" t="49279"/>
          <a:stretch/>
        </p:blipFill>
        <p:spPr>
          <a:xfrm>
            <a:off x="6853800" y="1260019"/>
            <a:ext cx="2266400" cy="2623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6"/>
          <p:cNvPicPr preferRelativeResize="0"/>
          <p:nvPr/>
        </p:nvPicPr>
        <p:blipFill rotWithShape="1">
          <a:blip r:embed="rId3">
            <a:alphaModFix/>
          </a:blip>
          <a:srcRect b="-1902" l="17340" r="51442" t="52365"/>
          <a:stretch/>
        </p:blipFill>
        <p:spPr>
          <a:xfrm>
            <a:off x="4390625" y="1384750"/>
            <a:ext cx="2463176" cy="26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6"/>
          <p:cNvPicPr preferRelativeResize="0"/>
          <p:nvPr/>
        </p:nvPicPr>
        <p:blipFill rotWithShape="1">
          <a:blip r:embed="rId3">
            <a:alphaModFix/>
          </a:blip>
          <a:srcRect b="49535" l="51866" r="17308" t="0"/>
          <a:stretch/>
        </p:blipFill>
        <p:spPr>
          <a:xfrm>
            <a:off x="2108825" y="1176813"/>
            <a:ext cx="2463176" cy="2721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(Architecture) [Feature Extraction]</a:t>
            </a:r>
            <a:endParaRPr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475" y="1041975"/>
            <a:ext cx="6637144" cy="368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(Architecture) [Feature Extraction]</a:t>
            </a:r>
            <a:endParaRPr/>
          </a:p>
        </p:txBody>
      </p:sp>
      <p:pic>
        <p:nvPicPr>
          <p:cNvPr id="220" name="Google Shape;2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425" y="1152425"/>
            <a:ext cx="6113707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Comparison</a:t>
            </a:r>
            <a:endParaRPr/>
          </a:p>
        </p:txBody>
      </p:sp>
      <p:pic>
        <p:nvPicPr>
          <p:cNvPr id="226" name="Google Shape;22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13" y="1301538"/>
            <a:ext cx="8921575" cy="25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Electra</a:t>
            </a:r>
            <a:endParaRPr/>
          </a:p>
        </p:txBody>
      </p:sp>
      <p:pic>
        <p:nvPicPr>
          <p:cNvPr id="232" name="Google Shape;2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175" y="1652588"/>
            <a:ext cx="69627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</a:t>
            </a:r>
            <a:endParaRPr/>
          </a:p>
        </p:txBody>
      </p:sp>
      <p:sp>
        <p:nvSpPr>
          <p:cNvPr id="238" name="Google Shape;238;p4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-"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Bidirectional Encoder Representations from Transformers</a:t>
            </a:r>
            <a:endParaRPr sz="3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