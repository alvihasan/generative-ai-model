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PT Sans Narrow"/>
      <p:regular r:id="rId27"/>
      <p:bold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TSansNarrow-bold.fntdata"/><Relationship Id="rId27" Type="http://schemas.openxmlformats.org/officeDocument/2006/relationships/font" Target="fonts/PTSansNarrow-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df7911c58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df7911c58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df7911c582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df7911c58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df7911c58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df7911c58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df7911c582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df7911c58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df7911c582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df7911c582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f7911c582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f7911c58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df7911c582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df7911c58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df7911c582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df7911c582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f7911c582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df7911c582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df7911c582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df7911c582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df7911c582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df7911c58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f7911c58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f7911c58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df7911c58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df7911c58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df7911c582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df7911c582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df7911c582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df7911c582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df7911c58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df7911c58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df7911c582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df7911c582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f7911c58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df7911c58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df7911c582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df7911c582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df7911c582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df7911c582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proceedings.neurips.cc/paper_files/paper/2014/file/a14ac55a4f27472c5d894ec1c3c743d2-Paper.pdf" TargetMode="External"/><Relationship Id="rId4" Type="http://schemas.openxmlformats.org/officeDocument/2006/relationships/hyperlink" Target="https://emnlp2014.org/papers/pdf/EMNLP2014179.pdf" TargetMode="External"/><Relationship Id="rId5" Type="http://schemas.openxmlformats.org/officeDocument/2006/relationships/hyperlink" Target="http://drive.google.com/file/d/1h1Fn3PZDDZGQK3he0pmCoW1ur8ceJVOO/view" TargetMode="External"/><Relationship Id="rId6"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drive.google.com/file/d/1XADwjayYVR4EaoiM_hfSQz10fyWjyY36/view" TargetMode="Externa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drive.google.com/file/d/1d6M22ok0WKZFjP1N6MRBIjzX4NxloEHz/view" TargetMode="Externa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drive.google.com/file/d/1b-goVMfqtSxQi2vCoI-QHyh1Z_abG_bp/view" TargetMode="Externa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DQeLPXBuILyp4H6UJ1gqG7EN2_tSwxfX/view" TargetMode="Externa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rive.google.com/file/d/1jge0QlyRfw6yEH6_CGXGb0sWEOq-ibeO/view" TargetMode="Externa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drive.google.com/file/d/1b6dBwUyzy6LZwY4umXK1ROLJXity5_1P/view" TargetMode="Externa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drive.google.com/file/d/1Z-V4OCY4GoaID64w0NeRSE3yXLQ3amMP/view" TargetMode="External"/><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drive.google.com/file/d/1LRb3gXhlzFU2pHTUOhK1ZRUAJhJT2-b7/view" TargetMode="External"/><Relationship Id="rId4"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drive.google.com/file/d/1b-gmk8-380IyU24ycTcW4h_2k3wlcaQQ/view" TargetMode="External"/><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drive.google.com/file/d/1Trx6YHMXz4VYXCgsAaNcugaASz32VUcQ/view" TargetMode="External"/><Relationship Id="rId4"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Throwback</a:t>
            </a:r>
            <a:endParaRPr/>
          </a:p>
          <a:p>
            <a:pPr indent="0" lvl="0" marL="0" rtl="0" algn="ctr">
              <a:spcBef>
                <a:spcPts val="0"/>
              </a:spcBef>
              <a:spcAft>
                <a:spcPts val="0"/>
              </a:spcAft>
              <a:buNone/>
            </a:pPr>
            <a:r>
              <a:rPr lang="en"/>
              <a:t>NMT with Attention</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IAC Deep Learning Course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Seq2Seq [</a:t>
            </a:r>
            <a:r>
              <a:rPr lang="en" u="sng">
                <a:solidFill>
                  <a:schemeClr val="hlink"/>
                </a:solidFill>
                <a:hlinkClick r:id="rId3"/>
              </a:rPr>
              <a:t>Paper 1</a:t>
            </a:r>
            <a:r>
              <a:rPr lang="en"/>
              <a:t>] [</a:t>
            </a:r>
            <a:r>
              <a:rPr lang="en" u="sng">
                <a:solidFill>
                  <a:schemeClr val="hlink"/>
                </a:solidFill>
                <a:hlinkClick r:id="rId4"/>
              </a:rPr>
              <a:t>Paper 2</a:t>
            </a:r>
            <a:r>
              <a:rPr lang="en"/>
              <a:t>]</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sequence-to-sequence model is a model that takes a sequence of items (words, letters, features of an images…etc) and outputs another sequence of items. A trained model would work like this:</a:t>
            </a:r>
            <a:endParaRPr/>
          </a:p>
        </p:txBody>
      </p:sp>
      <p:pic>
        <p:nvPicPr>
          <p:cNvPr id="74" name="Google Shape;74;p14" title="seq2seq_1.mp4">
            <a:hlinkClick r:id="rId5"/>
          </p:cNvPr>
          <p:cNvPicPr preferRelativeResize="0"/>
          <p:nvPr/>
        </p:nvPicPr>
        <p:blipFill>
          <a:blip r:embed="rId6">
            <a:alphaModFix/>
          </a:blip>
          <a:stretch>
            <a:fillRect/>
          </a:stretch>
        </p:blipFill>
        <p:spPr>
          <a:xfrm>
            <a:off x="1167213" y="2636325"/>
            <a:ext cx="6809575" cy="2077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NMT</a:t>
            </a:r>
            <a:endParaRPr/>
          </a:p>
        </p:txBody>
      </p:sp>
      <p:sp>
        <p:nvSpPr>
          <p:cNvPr id="80" name="Google Shape;80;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neural machine translation, a sequence is a series of words, processed one after another.</a:t>
            </a:r>
            <a:endParaRPr/>
          </a:p>
        </p:txBody>
      </p:sp>
      <p:pic>
        <p:nvPicPr>
          <p:cNvPr id="81" name="Google Shape;81;p15" title="seq2seq_2.mp4">
            <a:hlinkClick r:id="rId3"/>
          </p:cNvPr>
          <p:cNvPicPr preferRelativeResize="0"/>
          <p:nvPr/>
        </p:nvPicPr>
        <p:blipFill>
          <a:blip r:embed="rId4">
            <a:alphaModFix/>
          </a:blip>
          <a:stretch>
            <a:fillRect/>
          </a:stretch>
        </p:blipFill>
        <p:spPr>
          <a:xfrm>
            <a:off x="0" y="2050225"/>
            <a:ext cx="9144000" cy="274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Encoder Decoder Model</a:t>
            </a:r>
            <a:endParaRPr/>
          </a:p>
        </p:txBody>
      </p:sp>
      <p:pic>
        <p:nvPicPr>
          <p:cNvPr id="87" name="Google Shape;87;p16" title="seq2seq_3.mp4">
            <a:hlinkClick r:id="rId3"/>
          </p:cNvPr>
          <p:cNvPicPr preferRelativeResize="0"/>
          <p:nvPr/>
        </p:nvPicPr>
        <p:blipFill>
          <a:blip r:embed="rId4">
            <a:alphaModFix/>
          </a:blip>
          <a:stretch>
            <a:fillRect/>
          </a:stretch>
        </p:blipFill>
        <p:spPr>
          <a:xfrm>
            <a:off x="0" y="1589275"/>
            <a:ext cx="9144000" cy="243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Encoder Decoder Model for NMT</a:t>
            </a:r>
            <a:endParaRPr/>
          </a:p>
          <a:p>
            <a:pPr indent="-434340" lvl="0" marL="457200" rtl="0" algn="l">
              <a:spcBef>
                <a:spcPts val="0"/>
              </a:spcBef>
              <a:spcAft>
                <a:spcPts val="0"/>
              </a:spcAft>
              <a:buSzPct val="100000"/>
              <a:buChar char="-"/>
            </a:pPr>
            <a:r>
              <a:rPr lang="en"/>
              <a:t>Remember RNN?</a:t>
            </a:r>
            <a:endParaRPr/>
          </a:p>
        </p:txBody>
      </p:sp>
      <p:pic>
        <p:nvPicPr>
          <p:cNvPr id="93" name="Google Shape;93;p17" title="seq2seq_4.mp4">
            <a:hlinkClick r:id="rId3"/>
          </p:cNvPr>
          <p:cNvPicPr preferRelativeResize="0"/>
          <p:nvPr/>
        </p:nvPicPr>
        <p:blipFill>
          <a:blip r:embed="rId4">
            <a:alphaModFix/>
          </a:blip>
          <a:stretch>
            <a:fillRect/>
          </a:stretch>
        </p:blipFill>
        <p:spPr>
          <a:xfrm>
            <a:off x="109350" y="1896650"/>
            <a:ext cx="8839199" cy="23571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Context Vector</a:t>
            </a:r>
            <a:endParaRPr/>
          </a:p>
        </p:txBody>
      </p:sp>
      <p:pic>
        <p:nvPicPr>
          <p:cNvPr id="99" name="Google Shape;99;p18"/>
          <p:cNvPicPr preferRelativeResize="0"/>
          <p:nvPr/>
        </p:nvPicPr>
        <p:blipFill>
          <a:blip r:embed="rId3">
            <a:alphaModFix/>
          </a:blip>
          <a:stretch>
            <a:fillRect/>
          </a:stretch>
        </p:blipFill>
        <p:spPr>
          <a:xfrm>
            <a:off x="1000625" y="1303050"/>
            <a:ext cx="6819900" cy="2400300"/>
          </a:xfrm>
          <a:prstGeom prst="rect">
            <a:avLst/>
          </a:prstGeom>
          <a:noFill/>
          <a:ln>
            <a:noFill/>
          </a:ln>
        </p:spPr>
      </p:pic>
      <p:sp>
        <p:nvSpPr>
          <p:cNvPr id="100" name="Google Shape;100;p18"/>
          <p:cNvSpPr txBox="1"/>
          <p:nvPr/>
        </p:nvSpPr>
        <p:spPr>
          <a:xfrm>
            <a:off x="1741400" y="3766150"/>
            <a:ext cx="55122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800"/>
              <a:t>The context is a vector of floats. It is basically the number of hidden units in the encoder RNN.</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Word Embedding</a:t>
            </a:r>
            <a:endParaRPr/>
          </a:p>
        </p:txBody>
      </p:sp>
      <p:pic>
        <p:nvPicPr>
          <p:cNvPr id="106" name="Google Shape;106;p19"/>
          <p:cNvPicPr preferRelativeResize="0"/>
          <p:nvPr/>
        </p:nvPicPr>
        <p:blipFill>
          <a:blip r:embed="rId3">
            <a:alphaModFix/>
          </a:blip>
          <a:stretch>
            <a:fillRect/>
          </a:stretch>
        </p:blipFill>
        <p:spPr>
          <a:xfrm>
            <a:off x="1098750" y="1232075"/>
            <a:ext cx="7349874" cy="3486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RNN Recap</a:t>
            </a:r>
            <a:endParaRPr/>
          </a:p>
        </p:txBody>
      </p:sp>
      <p:pic>
        <p:nvPicPr>
          <p:cNvPr id="112" name="Google Shape;112;p20" title="RNN_1.mp4">
            <a:hlinkClick r:id="rId3"/>
          </p:cNvPr>
          <p:cNvPicPr preferRelativeResize="0"/>
          <p:nvPr/>
        </p:nvPicPr>
        <p:blipFill>
          <a:blip r:embed="rId4">
            <a:alphaModFix/>
          </a:blip>
          <a:stretch>
            <a:fillRect/>
          </a:stretch>
        </p:blipFill>
        <p:spPr>
          <a:xfrm>
            <a:off x="1522113" y="1294075"/>
            <a:ext cx="6099764" cy="368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NMT with Encoder Visualized</a:t>
            </a:r>
            <a:endParaRPr/>
          </a:p>
        </p:txBody>
      </p:sp>
      <p:pic>
        <p:nvPicPr>
          <p:cNvPr id="118" name="Google Shape;118;p21" title="seq2seq_5.mp4">
            <a:hlinkClick r:id="rId3"/>
          </p:cNvPr>
          <p:cNvPicPr preferRelativeResize="0"/>
          <p:nvPr/>
        </p:nvPicPr>
        <p:blipFill>
          <a:blip r:embed="rId4">
            <a:alphaModFix/>
          </a:blip>
          <a:stretch>
            <a:fillRect/>
          </a:stretch>
        </p:blipFill>
        <p:spPr>
          <a:xfrm>
            <a:off x="152400" y="1304825"/>
            <a:ext cx="8617266" cy="368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NMT with Encoder and Decoder Unrolled</a:t>
            </a:r>
            <a:endParaRPr/>
          </a:p>
        </p:txBody>
      </p:sp>
      <p:pic>
        <p:nvPicPr>
          <p:cNvPr id="124" name="Google Shape;124;p22" title="seq2seq_6.mp4">
            <a:hlinkClick r:id="rId3"/>
          </p:cNvPr>
          <p:cNvPicPr preferRelativeResize="0"/>
          <p:nvPr/>
        </p:nvPicPr>
        <p:blipFill>
          <a:blip r:embed="rId4">
            <a:alphaModFix/>
          </a:blip>
          <a:stretch>
            <a:fillRect/>
          </a:stretch>
        </p:blipFill>
        <p:spPr>
          <a:xfrm>
            <a:off x="398863" y="1304825"/>
            <a:ext cx="8346283" cy="368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Can you guess the problem?</a:t>
            </a:r>
            <a:endParaRPr/>
          </a:p>
        </p:txBody>
      </p:sp>
      <p:sp>
        <p:nvSpPr>
          <p:cNvPr id="130" name="Google Shape;130;p2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would happen if the sentence is too long?</a:t>
            </a:r>
            <a:endParaRPr/>
          </a:p>
          <a:p>
            <a:pPr indent="-342900" lvl="0" marL="457200" rtl="0" algn="l">
              <a:spcBef>
                <a:spcPts val="0"/>
              </a:spcBef>
              <a:spcAft>
                <a:spcPts val="0"/>
              </a:spcAft>
              <a:buSzPts val="1800"/>
              <a:buChar char="-"/>
            </a:pPr>
            <a:r>
              <a:rPr lang="en"/>
              <a:t>Which part of the sentence impacts the context vector most?</a:t>
            </a:r>
            <a:endParaRPr/>
          </a:p>
          <a:p>
            <a:pPr indent="-342900" lvl="0" marL="457200" rtl="0" algn="l">
              <a:spcBef>
                <a:spcPts val="0"/>
              </a:spcBef>
              <a:spcAft>
                <a:spcPts val="0"/>
              </a:spcAft>
              <a:buSzPts val="1800"/>
              <a:buChar char="-"/>
            </a:pPr>
            <a:r>
              <a:rPr lang="en"/>
              <a:t>Does this create any bias for the Decode?</a:t>
            </a:r>
            <a:endParaRPr/>
          </a:p>
          <a:p>
            <a:pPr indent="-342900" lvl="0" marL="457200" rtl="0" algn="l">
              <a:spcBef>
                <a:spcPts val="0"/>
              </a:spcBef>
              <a:spcAft>
                <a:spcPts val="0"/>
              </a:spcAft>
              <a:buSzPts val="1800"/>
              <a:buChar char="-"/>
            </a:pPr>
            <a:r>
              <a:rPr lang="en"/>
              <a:t>Can you think of a solution to this?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May I have your Attention?</a:t>
            </a:r>
            <a:endParaRPr/>
          </a:p>
        </p:txBody>
      </p:sp>
      <p:sp>
        <p:nvSpPr>
          <p:cNvPr id="136" name="Google Shape;136;p2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context vector turned out to be a bottleneck for these types of models. It made it challenging for the models to deal with long sentences. </a:t>
            </a:r>
            <a:endParaRPr/>
          </a:p>
          <a:p>
            <a:pPr indent="-342900" lvl="0" marL="457200" rtl="0" algn="l">
              <a:spcBef>
                <a:spcPts val="0"/>
              </a:spcBef>
              <a:spcAft>
                <a:spcPts val="0"/>
              </a:spcAft>
              <a:buSzPts val="1800"/>
              <a:buChar char="-"/>
            </a:pPr>
            <a:r>
              <a:rPr lang="en"/>
              <a:t>A solution was proposed in Bahdanau et al., 2014 and Luong et al., 2015. </a:t>
            </a:r>
            <a:endParaRPr/>
          </a:p>
          <a:p>
            <a:pPr indent="-342900" lvl="0" marL="457200" rtl="0" algn="l">
              <a:spcBef>
                <a:spcPts val="0"/>
              </a:spcBef>
              <a:spcAft>
                <a:spcPts val="0"/>
              </a:spcAft>
              <a:buSzPts val="1800"/>
              <a:buChar char="-"/>
            </a:pPr>
            <a:r>
              <a:rPr lang="en"/>
              <a:t>These papers introduced and refined a technique called “Attention”, which highly improved the quality of machine translation systems. </a:t>
            </a:r>
            <a:endParaRPr/>
          </a:p>
          <a:p>
            <a:pPr indent="-342900" lvl="0" marL="457200" rtl="0" algn="l">
              <a:spcBef>
                <a:spcPts val="0"/>
              </a:spcBef>
              <a:spcAft>
                <a:spcPts val="0"/>
              </a:spcAft>
              <a:buSzPts val="1800"/>
              <a:buChar char="-"/>
            </a:pPr>
            <a:r>
              <a:rPr lang="en"/>
              <a:t>Attention allows the model to focus on the relevant parts of the input sequence as needed.</a:t>
            </a:r>
            <a:endParaRPr/>
          </a:p>
          <a:p>
            <a:pPr indent="-342900" lvl="0" marL="457200" rtl="0" algn="l">
              <a:spcBef>
                <a:spcPts val="0"/>
              </a:spcBef>
              <a:spcAft>
                <a:spcPts val="0"/>
              </a:spcAft>
              <a:buSzPts val="1800"/>
              <a:buChar char="-"/>
            </a:pPr>
            <a:r>
              <a:rPr lang="en"/>
              <a:t>An attention model differs from a classic sequence-to-sequence model in two main ways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Difference 1 [Passing all Hidden States]</a:t>
            </a:r>
            <a:endParaRPr/>
          </a:p>
        </p:txBody>
      </p:sp>
      <p:pic>
        <p:nvPicPr>
          <p:cNvPr id="142" name="Google Shape;142;p25" title="seq2seq_7.mp4">
            <a:hlinkClick r:id="rId3"/>
          </p:cNvPr>
          <p:cNvPicPr preferRelativeResize="0"/>
          <p:nvPr/>
        </p:nvPicPr>
        <p:blipFill>
          <a:blip r:embed="rId4">
            <a:alphaModFix/>
          </a:blip>
          <a:stretch>
            <a:fillRect/>
          </a:stretch>
        </p:blipFill>
        <p:spPr>
          <a:xfrm>
            <a:off x="369175" y="1197200"/>
            <a:ext cx="8405647" cy="368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aided Decoding</a:t>
            </a:r>
            <a:endParaRPr/>
          </a:p>
        </p:txBody>
      </p:sp>
      <p:sp>
        <p:nvSpPr>
          <p:cNvPr id="148" name="Google Shape;148;p2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At time step 7, the attention mechanism enables the decoder to focus on the word "étudiant" ("student" in french) before it generates the English translation.</a:t>
            </a:r>
            <a:endParaRPr/>
          </a:p>
        </p:txBody>
      </p:sp>
      <p:pic>
        <p:nvPicPr>
          <p:cNvPr id="149" name="Google Shape;149;p26"/>
          <p:cNvPicPr preferRelativeResize="0"/>
          <p:nvPr/>
        </p:nvPicPr>
        <p:blipFill>
          <a:blip r:embed="rId3">
            <a:alphaModFix/>
          </a:blip>
          <a:stretch>
            <a:fillRect/>
          </a:stretch>
        </p:blipFill>
        <p:spPr>
          <a:xfrm>
            <a:off x="43075" y="2390500"/>
            <a:ext cx="9144000" cy="2514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Difference 2</a:t>
            </a:r>
            <a:endParaRPr/>
          </a:p>
        </p:txBody>
      </p:sp>
      <p:sp>
        <p:nvSpPr>
          <p:cNvPr id="155" name="Google Shape;155;p2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a:t>
            </a:r>
            <a:r>
              <a:rPr lang="en"/>
              <a:t>n attention decoder does an extra step before producing its output. In order to focus on the parts of the input that are relevant to this decoding time step, the decoder does the following:</a:t>
            </a:r>
            <a:endParaRPr/>
          </a:p>
          <a:p>
            <a:pPr indent="-342900" lvl="0" marL="457200" rtl="0" algn="l">
              <a:spcBef>
                <a:spcPts val="1200"/>
              </a:spcBef>
              <a:spcAft>
                <a:spcPts val="0"/>
              </a:spcAft>
              <a:buSzPts val="1800"/>
              <a:buAutoNum type="arabicPeriod"/>
            </a:pPr>
            <a:r>
              <a:rPr lang="en"/>
              <a:t>Look at the set of encoder hidden states it received – each encoder hidden state is most associated with a certain word in the input sentence</a:t>
            </a:r>
            <a:endParaRPr/>
          </a:p>
          <a:p>
            <a:pPr indent="-342900" lvl="0" marL="457200" rtl="0" algn="l">
              <a:spcBef>
                <a:spcPts val="0"/>
              </a:spcBef>
              <a:spcAft>
                <a:spcPts val="0"/>
              </a:spcAft>
              <a:buSzPts val="1800"/>
              <a:buAutoNum type="arabicPeriod"/>
            </a:pPr>
            <a:r>
              <a:rPr lang="en"/>
              <a:t>Give each hidden state a score (let’s ignore how the scoring is done for now)</a:t>
            </a:r>
            <a:endParaRPr/>
          </a:p>
          <a:p>
            <a:pPr indent="-342900" lvl="0" marL="457200" rtl="0" algn="l">
              <a:spcBef>
                <a:spcPts val="0"/>
              </a:spcBef>
              <a:spcAft>
                <a:spcPts val="0"/>
              </a:spcAft>
              <a:buSzPts val="1800"/>
              <a:buAutoNum type="arabicPeriod"/>
            </a:pPr>
            <a:r>
              <a:rPr lang="en"/>
              <a:t>Multiply each hidden state by its softmaxed score, thus amplifying hidden states with high scores, and drowning out hidden states with low scores</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Difference 2</a:t>
            </a:r>
            <a:endParaRPr/>
          </a:p>
        </p:txBody>
      </p:sp>
      <p:pic>
        <p:nvPicPr>
          <p:cNvPr id="161" name="Google Shape;161;p28" title="attention_process.mp4">
            <a:hlinkClick r:id="rId3"/>
          </p:cNvPr>
          <p:cNvPicPr preferRelativeResize="0"/>
          <p:nvPr/>
        </p:nvPicPr>
        <p:blipFill>
          <a:blip r:embed="rId4">
            <a:alphaModFix/>
          </a:blip>
          <a:stretch>
            <a:fillRect/>
          </a:stretch>
        </p:blipFill>
        <p:spPr>
          <a:xfrm>
            <a:off x="1282225" y="1152425"/>
            <a:ext cx="6770711" cy="36862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Stitching</a:t>
            </a:r>
            <a:r>
              <a:rPr lang="en"/>
              <a:t>  everything together</a:t>
            </a:r>
            <a:endParaRPr/>
          </a:p>
        </p:txBody>
      </p:sp>
      <p:sp>
        <p:nvSpPr>
          <p:cNvPr id="167" name="Google Shape;167;p29"/>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7027" lvl="0" marL="457200" rtl="0" algn="l">
              <a:lnSpc>
                <a:spcPct val="95000"/>
              </a:lnSpc>
              <a:spcBef>
                <a:spcPts val="0"/>
              </a:spcBef>
              <a:spcAft>
                <a:spcPts val="0"/>
              </a:spcAft>
              <a:buSzPts val="1865"/>
              <a:buChar char="-"/>
            </a:pPr>
            <a:r>
              <a:rPr lang="en" sz="1865"/>
              <a:t>The attention decoder RNN takes in the embedding of the &lt;END&gt; token, and an initial decoder hidden state.The RNN processes its inputs, producing an output and a new hidden state vector (h4). The output is discarded.</a:t>
            </a:r>
            <a:endParaRPr sz="1865"/>
          </a:p>
          <a:p>
            <a:pPr indent="-347027" lvl="0" marL="457200" rtl="0" algn="l">
              <a:lnSpc>
                <a:spcPct val="95000"/>
              </a:lnSpc>
              <a:spcBef>
                <a:spcPts val="0"/>
              </a:spcBef>
              <a:spcAft>
                <a:spcPts val="0"/>
              </a:spcAft>
              <a:buSzPts val="1865"/>
              <a:buChar char="-"/>
            </a:pPr>
            <a:r>
              <a:rPr lang="en" sz="1865"/>
              <a:t>Attention Step: We use the encoder hidden states and the h4 vector to calculate a context vector (C4) for this time step.</a:t>
            </a:r>
            <a:endParaRPr sz="1865"/>
          </a:p>
          <a:p>
            <a:pPr indent="-347027" lvl="0" marL="457200" rtl="0" algn="l">
              <a:lnSpc>
                <a:spcPct val="95000"/>
              </a:lnSpc>
              <a:spcBef>
                <a:spcPts val="0"/>
              </a:spcBef>
              <a:spcAft>
                <a:spcPts val="0"/>
              </a:spcAft>
              <a:buSzPts val="1865"/>
              <a:buChar char="-"/>
            </a:pPr>
            <a:r>
              <a:rPr lang="en" sz="1865"/>
              <a:t>We concatenate h4 and C4 into one vector.</a:t>
            </a:r>
            <a:endParaRPr sz="1865"/>
          </a:p>
          <a:p>
            <a:pPr indent="-347027" lvl="0" marL="457200" rtl="0" algn="l">
              <a:lnSpc>
                <a:spcPct val="95000"/>
              </a:lnSpc>
              <a:spcBef>
                <a:spcPts val="0"/>
              </a:spcBef>
              <a:spcAft>
                <a:spcPts val="0"/>
              </a:spcAft>
              <a:buSzPts val="1865"/>
              <a:buChar char="-"/>
            </a:pPr>
            <a:r>
              <a:rPr lang="en" sz="1865"/>
              <a:t>We pass this vector through a feedforward neural network (one trained jointly with the model).</a:t>
            </a:r>
            <a:endParaRPr sz="1865"/>
          </a:p>
          <a:p>
            <a:pPr indent="-347027" lvl="0" marL="457200" rtl="0" algn="l">
              <a:lnSpc>
                <a:spcPct val="95000"/>
              </a:lnSpc>
              <a:spcBef>
                <a:spcPts val="0"/>
              </a:spcBef>
              <a:spcAft>
                <a:spcPts val="0"/>
              </a:spcAft>
              <a:buSzPts val="1865"/>
              <a:buChar char="-"/>
            </a:pPr>
            <a:r>
              <a:rPr lang="en" sz="1865"/>
              <a:t>The output of the feedforward neural networks indicates the output word of this time step.</a:t>
            </a:r>
            <a:endParaRPr sz="1865"/>
          </a:p>
          <a:p>
            <a:pPr indent="-347027" lvl="0" marL="457200" rtl="0" algn="l">
              <a:lnSpc>
                <a:spcPct val="95000"/>
              </a:lnSpc>
              <a:spcBef>
                <a:spcPts val="0"/>
              </a:spcBef>
              <a:spcAft>
                <a:spcPts val="0"/>
              </a:spcAft>
              <a:buSzPts val="1865"/>
              <a:buChar char="-"/>
            </a:pPr>
            <a:r>
              <a:rPr lang="en" sz="1865"/>
              <a:t>Repeat for the next time steps</a:t>
            </a:r>
            <a:endParaRPr sz="1865"/>
          </a:p>
          <a:p>
            <a:pPr indent="0" lvl="0" marL="0" rtl="0" algn="l">
              <a:lnSpc>
                <a:spcPct val="95000"/>
              </a:lnSpc>
              <a:spcBef>
                <a:spcPts val="1200"/>
              </a:spcBef>
              <a:spcAft>
                <a:spcPts val="1200"/>
              </a:spcAft>
              <a:buSzPts val="1018"/>
              <a:buNone/>
            </a:pPr>
            <a:r>
              <a:t/>
            </a:r>
            <a:endParaRPr sz="1865"/>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Stitching  everything together</a:t>
            </a:r>
            <a:endParaRPr/>
          </a:p>
        </p:txBody>
      </p:sp>
      <p:pic>
        <p:nvPicPr>
          <p:cNvPr id="173" name="Google Shape;173;p30" title="attention_tensor_dance.mp4">
            <a:hlinkClick r:id="rId3"/>
          </p:cNvPr>
          <p:cNvPicPr preferRelativeResize="0"/>
          <p:nvPr/>
        </p:nvPicPr>
        <p:blipFill>
          <a:blip r:embed="rId4">
            <a:alphaModFix/>
          </a:blip>
          <a:stretch>
            <a:fillRect/>
          </a:stretch>
        </p:blipFill>
        <p:spPr>
          <a:xfrm>
            <a:off x="1220838" y="1229500"/>
            <a:ext cx="6702318" cy="368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Intuition</a:t>
            </a:r>
            <a:endParaRPr/>
          </a:p>
        </p:txBody>
      </p:sp>
      <p:pic>
        <p:nvPicPr>
          <p:cNvPr id="179" name="Google Shape;179;p31" title="seq2seq_9.mp4">
            <a:hlinkClick r:id="rId3"/>
          </p:cNvPr>
          <p:cNvPicPr preferRelativeResize="0"/>
          <p:nvPr/>
        </p:nvPicPr>
        <p:blipFill>
          <a:blip r:embed="rId4">
            <a:alphaModFix/>
          </a:blip>
          <a:stretch>
            <a:fillRect/>
          </a:stretch>
        </p:blipFill>
        <p:spPr>
          <a:xfrm>
            <a:off x="410650" y="1294050"/>
            <a:ext cx="8468468" cy="36862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Intuition</a:t>
            </a:r>
            <a:endParaRPr/>
          </a:p>
        </p:txBody>
      </p:sp>
      <p:sp>
        <p:nvSpPr>
          <p:cNvPr id="185" name="Google Shape;185;p32"/>
          <p:cNvSpPr txBox="1"/>
          <p:nvPr>
            <p:ph idx="1" type="body"/>
          </p:nvPr>
        </p:nvSpPr>
        <p:spPr>
          <a:xfrm>
            <a:off x="204100" y="4107100"/>
            <a:ext cx="8832300" cy="942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600"/>
              <a:t>You can see how the model paid attention correctly when outputing "European Economic Area". In French, the order of these words is reversed ("européenne économique zone") as compared to English. Every other word in the sentence is in similar order.</a:t>
            </a:r>
            <a:endParaRPr sz="1600"/>
          </a:p>
        </p:txBody>
      </p:sp>
      <p:pic>
        <p:nvPicPr>
          <p:cNvPr id="186" name="Google Shape;186;p32"/>
          <p:cNvPicPr preferRelativeResize="0"/>
          <p:nvPr/>
        </p:nvPicPr>
        <p:blipFill>
          <a:blip r:embed="rId3">
            <a:alphaModFix/>
          </a:blip>
          <a:stretch>
            <a:fillRect/>
          </a:stretch>
        </p:blipFill>
        <p:spPr>
          <a:xfrm>
            <a:off x="2982400" y="88575"/>
            <a:ext cx="3937776" cy="4018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 what is the catch!</a:t>
            </a:r>
            <a:endParaRPr/>
          </a:p>
        </p:txBody>
      </p:sp>
      <p:sp>
        <p:nvSpPr>
          <p:cNvPr id="192" name="Google Shape;192;p3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Not fast enough!</a:t>
            </a:r>
            <a:endParaRPr/>
          </a:p>
          <a:p>
            <a:pPr indent="-342900" lvl="0" marL="457200" rtl="0" algn="l">
              <a:spcBef>
                <a:spcPts val="0"/>
              </a:spcBef>
              <a:spcAft>
                <a:spcPts val="0"/>
              </a:spcAft>
              <a:buSzPts val="1800"/>
              <a:buChar char="-"/>
            </a:pPr>
            <a:r>
              <a:rPr lang="en"/>
              <a:t>Does not scale well for very large sequences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